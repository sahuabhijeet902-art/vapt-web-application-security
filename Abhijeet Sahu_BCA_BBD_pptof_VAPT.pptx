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15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0DCC67-04B5-4D2E-A078-6F2E77D7FCE8}"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20EEE-A151-432E-B208-CE3487BAD893}" type="slidenum">
              <a:rPr lang="en-US" smtClean="0"/>
              <a:t>‹#›</a:t>
            </a:fld>
            <a:endParaRPr lang="en-US"/>
          </a:p>
        </p:txBody>
      </p:sp>
    </p:spTree>
    <p:extLst>
      <p:ext uri="{BB962C8B-B14F-4D97-AF65-F5344CB8AC3E}">
        <p14:creationId xmlns:p14="http://schemas.microsoft.com/office/powerpoint/2010/main" val="611502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F20EEE-A151-432E-B208-CE3487BAD893}" type="slidenum">
              <a:rPr lang="en-US" smtClean="0"/>
              <a:t>1</a:t>
            </a:fld>
            <a:endParaRPr lang="en-US"/>
          </a:p>
        </p:txBody>
      </p:sp>
    </p:spTree>
    <p:extLst>
      <p:ext uri="{BB962C8B-B14F-4D97-AF65-F5344CB8AC3E}">
        <p14:creationId xmlns:p14="http://schemas.microsoft.com/office/powerpoint/2010/main" val="4047625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F20EEE-A151-432E-B208-CE3487BAD893}" type="slidenum">
              <a:rPr lang="en-US" smtClean="0"/>
              <a:t>12</a:t>
            </a:fld>
            <a:endParaRPr lang="en-US"/>
          </a:p>
        </p:txBody>
      </p:sp>
    </p:spTree>
    <p:extLst>
      <p:ext uri="{BB962C8B-B14F-4D97-AF65-F5344CB8AC3E}">
        <p14:creationId xmlns:p14="http://schemas.microsoft.com/office/powerpoint/2010/main" val="3711860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2189880" y="2574000"/>
            <a:ext cx="4493520" cy="1495800"/>
          </a:xfrm>
          <a:prstGeom prst="rect">
            <a:avLst/>
          </a:prstGeom>
          <a:noFill/>
          <a:ln w="0">
            <a:noFill/>
          </a:ln>
          <a:effectLst>
            <a:outerShdw blurRad="57240" dist="19080" dir="5400000" rotWithShape="0">
              <a:srgbClr val="000000">
                <a:alpha val="50000"/>
              </a:srgbClr>
            </a:outerShdw>
          </a:effectLst>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84120" y="1555560"/>
            <a:ext cx="6575760" cy="135972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accent1"/>
                </a:solidFill>
                <a:effectLst/>
                <a:uFillTx/>
                <a:latin typeface="Manrope"/>
                <a:ea typeface="Manrope"/>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3" name="Google Shape;47;p13"/>
          <p:cNvSpPr/>
          <p:nvPr/>
        </p:nvSpPr>
        <p:spPr>
          <a:xfrm>
            <a:off x="228600" y="136080"/>
            <a:ext cx="3499920" cy="4871520"/>
          </a:xfrm>
          <a:prstGeom prst="roundRect">
            <a:avLst>
              <a:gd name="adj" fmla="val 8403"/>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 name="Google Shape;48;p13"/>
          <p:cNvSpPr/>
          <p:nvPr/>
        </p:nvSpPr>
        <p:spPr>
          <a:xfrm>
            <a:off x="383400" y="379080"/>
            <a:ext cx="3191760" cy="271440"/>
          </a:xfrm>
          <a:prstGeom prst="roundRect">
            <a:avLst>
              <a:gd name="adj" fmla="val 50000"/>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 name="PlaceHolder 1"/>
          <p:cNvSpPr>
            <a:spLocks noGrp="1"/>
          </p:cNvSpPr>
          <p:nvPr>
            <p:ph type="title"/>
          </p:nvPr>
        </p:nvSpPr>
        <p:spPr>
          <a:xfrm>
            <a:off x="3979440" y="228600"/>
            <a:ext cx="444420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6" name="PlaceHolder 2"/>
          <p:cNvSpPr>
            <a:spLocks noGrp="1"/>
          </p:cNvSpPr>
          <p:nvPr>
            <p:ph type="title"/>
          </p:nvPr>
        </p:nvSpPr>
        <p:spPr>
          <a:xfrm>
            <a:off x="228600" y="92088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7" name="PlaceHolder 3"/>
          <p:cNvSpPr>
            <a:spLocks noGrp="1"/>
          </p:cNvSpPr>
          <p:nvPr>
            <p:ph type="title"/>
          </p:nvPr>
        </p:nvSpPr>
        <p:spPr>
          <a:xfrm>
            <a:off x="228600" y="142776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8" name="PlaceHolder 4"/>
          <p:cNvSpPr>
            <a:spLocks noGrp="1"/>
          </p:cNvSpPr>
          <p:nvPr>
            <p:ph type="title"/>
          </p:nvPr>
        </p:nvSpPr>
        <p:spPr>
          <a:xfrm>
            <a:off x="228600" y="193464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9" name="PlaceHolder 5"/>
          <p:cNvSpPr>
            <a:spLocks noGrp="1"/>
          </p:cNvSpPr>
          <p:nvPr>
            <p:ph type="title"/>
          </p:nvPr>
        </p:nvSpPr>
        <p:spPr>
          <a:xfrm>
            <a:off x="228600" y="244152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10" name="PlaceHolder 6"/>
          <p:cNvSpPr>
            <a:spLocks noGrp="1"/>
          </p:cNvSpPr>
          <p:nvPr>
            <p:ph type="title"/>
          </p:nvPr>
        </p:nvSpPr>
        <p:spPr>
          <a:xfrm>
            <a:off x="228600" y="294840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11" name="PlaceHolder 7"/>
          <p:cNvSpPr>
            <a:spLocks noGrp="1"/>
          </p:cNvSpPr>
          <p:nvPr>
            <p:ph type="title"/>
          </p:nvPr>
        </p:nvSpPr>
        <p:spPr>
          <a:xfrm>
            <a:off x="228600" y="345528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12" name="PlaceHolder 8"/>
          <p:cNvSpPr>
            <a:spLocks noGrp="1"/>
          </p:cNvSpPr>
          <p:nvPr>
            <p:ph type="title"/>
          </p:nvPr>
        </p:nvSpPr>
        <p:spPr>
          <a:xfrm>
            <a:off x="228600" y="396216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13" name="PlaceHolder 9"/>
          <p:cNvSpPr>
            <a:spLocks noGrp="1"/>
          </p:cNvSpPr>
          <p:nvPr>
            <p:ph type="title"/>
          </p:nvPr>
        </p:nvSpPr>
        <p:spPr>
          <a:xfrm>
            <a:off x="228600" y="4469040"/>
            <a:ext cx="502560" cy="445680"/>
          </a:xfrm>
          <a:prstGeom prst="rect">
            <a:avLst/>
          </a:prstGeom>
          <a:noFill/>
          <a:ln w="0">
            <a:noFill/>
          </a:ln>
        </p:spPr>
        <p:txBody>
          <a:bodyPr lIns="91440" tIns="91440" rIns="91440" bIns="91440" anchor="ctr">
            <a:noAutofit/>
          </a:bodyPr>
          <a:lstStyle/>
          <a:p>
            <a:pPr indent="0" algn="r">
              <a:lnSpc>
                <a:spcPct val="100000"/>
              </a:lnSpc>
              <a:buNone/>
            </a:pPr>
            <a:r>
              <a:rPr lang="fr-FR" sz="1800" b="1" u="none" strike="noStrike">
                <a:solidFill>
                  <a:schemeClr val="dk1"/>
                </a:solidFill>
                <a:effectLst/>
                <a:uFillTx/>
                <a:latin typeface="Manrope"/>
                <a:ea typeface="Manrope"/>
              </a:rPr>
              <a:t>xx%</a:t>
            </a:r>
            <a:endParaRPr lang="fr-FR" sz="1800" b="0" u="none" strike="noStrike">
              <a:solidFill>
                <a:schemeClr val="dk1"/>
              </a:solidFill>
              <a:effectLst/>
              <a:uFillTx/>
              <a:latin typeface="Arial"/>
            </a:endParaRPr>
          </a:p>
        </p:txBody>
      </p:sp>
      <p:sp>
        <p:nvSpPr>
          <p:cNvPr id="14" name="Google Shape;74;p13"/>
          <p:cNvSpPr/>
          <p:nvPr/>
        </p:nvSpPr>
        <p:spPr>
          <a:xfrm>
            <a:off x="3805200" y="136080"/>
            <a:ext cx="5202360" cy="48715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5" name="Google Shape;76;p14"/>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6" name="PlaceHolder 1"/>
          <p:cNvSpPr>
            <a:spLocks noGrp="1"/>
          </p:cNvSpPr>
          <p:nvPr>
            <p:ph type="title"/>
          </p:nvPr>
        </p:nvSpPr>
        <p:spPr>
          <a:xfrm>
            <a:off x="720000" y="45612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sp>
        <p:nvSpPr>
          <p:cNvPr id="18" name="Google Shape;80;p15"/>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PlaceHolder 1"/>
          <p:cNvSpPr>
            <a:spLocks noGrp="1"/>
          </p:cNvSpPr>
          <p:nvPr>
            <p:ph type="title"/>
          </p:nvPr>
        </p:nvSpPr>
        <p:spPr>
          <a:xfrm>
            <a:off x="720000" y="45864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20" name="Google Shape;89;p16"/>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1" name="PlaceHolder 1"/>
          <p:cNvSpPr>
            <a:spLocks noGrp="1"/>
          </p:cNvSpPr>
          <p:nvPr>
            <p:ph type="title"/>
          </p:nvPr>
        </p:nvSpPr>
        <p:spPr>
          <a:xfrm>
            <a:off x="720000" y="45864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347920" y="830160"/>
            <a:ext cx="4447800" cy="82332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sp>
        <p:nvSpPr>
          <p:cNvPr id="23" name="Google Shape;106;p17"/>
          <p:cNvSpPr/>
          <p:nvPr/>
        </p:nvSpPr>
        <p:spPr>
          <a:xfrm>
            <a:off x="435600" y="3666960"/>
            <a:ext cx="8272440" cy="1044360"/>
          </a:xfrm>
          <a:prstGeom prst="roundRect">
            <a:avLst>
              <a:gd name="adj" fmla="val 17679"/>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107;p17"/>
          <p:cNvSpPr/>
          <p:nvPr/>
        </p:nvSpPr>
        <p:spPr>
          <a:xfrm>
            <a:off x="2099160" y="371016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5000"/>
              </a:lnSpc>
              <a:tabLst>
                <a:tab pos="0" algn="l"/>
              </a:tabLst>
            </a:pPr>
            <a:r>
              <a:rPr lang="en" sz="1200" b="0" u="none" strike="noStrike">
                <a:solidFill>
                  <a:schemeClr val="dk1"/>
                </a:solidFill>
                <a:effectLst/>
                <a:uFillTx/>
                <a:latin typeface="Funnel Sans"/>
                <a:ea typeface="Funnel Sans"/>
              </a:rPr>
              <a:t>CREDITS: This presentation template was created by </a:t>
            </a:r>
            <a:r>
              <a:rPr lang="en" sz="1200" b="1" u="sng" strike="noStrike">
                <a:solidFill>
                  <a:schemeClr val="hlink"/>
                </a:solidFill>
                <a:effectLst/>
                <a:uFillTx/>
                <a:latin typeface="Funnel Sans"/>
                <a:ea typeface="Funnel Sans"/>
                <a:hlinkClick r:id="rId2"/>
              </a:rPr>
              <a:t>Slidesgo</a:t>
            </a:r>
            <a:r>
              <a:rPr lang="en" sz="1200" b="1" u="none" strike="noStrike">
                <a:solidFill>
                  <a:schemeClr val="dk1"/>
                </a:solidFill>
                <a:effectLst/>
                <a:uFillTx/>
                <a:latin typeface="Funnel Sans"/>
                <a:ea typeface="Funnel Sans"/>
              </a:rPr>
              <a:t>,</a:t>
            </a:r>
            <a:r>
              <a:rPr lang="en" sz="1200" b="0" u="none" strike="noStrike">
                <a:solidFill>
                  <a:schemeClr val="dk1"/>
                </a:solidFill>
                <a:effectLst/>
                <a:uFillTx/>
                <a:latin typeface="Funnel Sans"/>
                <a:ea typeface="Funnel Sans"/>
              </a:rPr>
              <a:t> and includes icons, infographics &amp; images by </a:t>
            </a:r>
            <a:r>
              <a:rPr lang="en" sz="1200" b="1" u="sng" strike="noStrike">
                <a:solidFill>
                  <a:schemeClr val="dk1"/>
                </a:solidFill>
                <a:effectLst/>
                <a:uFillTx/>
                <a:latin typeface="Funnel Sans"/>
                <a:ea typeface="Funnel Sans"/>
                <a:hlinkClick r:id="rId3"/>
              </a:rPr>
              <a:t>Freepik</a:t>
            </a:r>
            <a:r>
              <a:rPr lang="en" sz="1200" b="1" u="sng" strike="noStrike">
                <a:solidFill>
                  <a:schemeClr val="dk1"/>
                </a:solidFill>
                <a:effectLst/>
                <a:uFillTx/>
                <a:latin typeface="Funnel Sans"/>
                <a:ea typeface="Funnel Sans"/>
              </a:rPr>
              <a:t> </a:t>
            </a:r>
            <a:endParaRPr lang="en-US" sz="1200" b="0" u="none" strike="noStrike">
              <a:solidFill>
                <a:srgbClr val="FFFFFF"/>
              </a:solidFill>
              <a:effectLst/>
              <a:uFillTx/>
              <a:latin typeface="OpenSymbol"/>
            </a:endParaRPr>
          </a:p>
        </p:txBody>
      </p:sp>
      <p:sp>
        <p:nvSpPr>
          <p:cNvPr id="25" name="Google Shape;108;p17"/>
          <p:cNvSpPr/>
          <p:nvPr/>
        </p:nvSpPr>
        <p:spPr>
          <a:xfrm>
            <a:off x="435600" y="557640"/>
            <a:ext cx="8272440" cy="2968920"/>
          </a:xfrm>
          <a:prstGeom prst="roundRect">
            <a:avLst>
              <a:gd name="adj" fmla="val 7654"/>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26" name="Google Shape;110;p18"/>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
        <p:nvSpPr>
          <p:cNvPr id="27" name="Google Shape;112;p19"/>
          <p:cNvSpPr/>
          <p:nvPr/>
        </p:nvSpPr>
        <p:spPr>
          <a:xfrm rot="5400000">
            <a:off x="4471200" y="532800"/>
            <a:ext cx="201600" cy="862812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69080" y="1719360"/>
            <a:ext cx="6339960" cy="2123280"/>
          </a:xfrm>
          <a:prstGeom prst="rect">
            <a:avLst/>
          </a:prstGeom>
          <a:noFill/>
          <a:ln w="0">
            <a:noFill/>
          </a:ln>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sp>
        <p:nvSpPr>
          <p:cNvPr id="29" name="PlaceHolder 2"/>
          <p:cNvSpPr>
            <a:spLocks noGrp="1"/>
          </p:cNvSpPr>
          <p:nvPr>
            <p:ph type="title"/>
          </p:nvPr>
        </p:nvSpPr>
        <p:spPr>
          <a:xfrm>
            <a:off x="469080" y="487080"/>
            <a:ext cx="1182240" cy="841320"/>
          </a:xfrm>
          <a:prstGeom prst="rect">
            <a:avLst/>
          </a:prstGeom>
          <a:noFill/>
          <a:ln w="0">
            <a:noFill/>
          </a:ln>
        </p:spPr>
        <p:txBody>
          <a:bodyPr lIns="91440" tIns="91440" rIns="91440" bIns="91440" anchor="b">
            <a:noAutofit/>
          </a:bodyPr>
          <a:lstStyle/>
          <a:p>
            <a:pPr indent="0">
              <a:lnSpc>
                <a:spcPct val="100000"/>
              </a:lnSpc>
              <a:buNone/>
            </a:pPr>
            <a:r>
              <a:rPr lang="fr-FR" sz="6000" b="1" u="none" strike="noStrike">
                <a:solidFill>
                  <a:schemeClr val="accent2"/>
                </a:solidFill>
                <a:effectLst/>
                <a:uFillTx/>
                <a:latin typeface="Manrope"/>
                <a:ea typeface="Manrope"/>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720000" y="22860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31" name="PlaceHolder 2"/>
          <p:cNvSpPr>
            <a:spLocks noGrp="1"/>
          </p:cNvSpPr>
          <p:nvPr>
            <p:ph type="body"/>
          </p:nvPr>
        </p:nvSpPr>
        <p:spPr>
          <a:xfrm>
            <a:off x="720000" y="999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32" name="Google Shape;19;p5"/>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PlaceHolder 1"/>
          <p:cNvSpPr>
            <a:spLocks noGrp="1"/>
          </p:cNvSpPr>
          <p:nvPr>
            <p:ph type="title"/>
          </p:nvPr>
        </p:nvSpPr>
        <p:spPr>
          <a:xfrm>
            <a:off x="720000" y="45864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34" name="Google Shape;25;p5"/>
          <p:cNvSpPr/>
          <p:nvPr/>
        </p:nvSpPr>
        <p:spPr>
          <a:xfrm rot="5400000">
            <a:off x="4492080" y="429840"/>
            <a:ext cx="222480" cy="8969400"/>
          </a:xfrm>
          <a:prstGeom prst="roundRect">
            <a:avLst>
              <a:gd name="adj" fmla="val 50000"/>
            </a:avLst>
          </a:prstGeom>
          <a:noFill/>
          <a:ln w="9525">
            <a:solidFill>
              <a:srgbClr val="00FFA4"/>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20000" y="45864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
        <p:nvSpPr>
          <p:cNvPr id="36" name="Google Shape;28;p6"/>
          <p:cNvSpPr/>
          <p:nvPr/>
        </p:nvSpPr>
        <p:spPr>
          <a:xfrm>
            <a:off x="136080" y="132480"/>
            <a:ext cx="8871840" cy="49525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38" name="Google Shape;30;p7"/>
          <p:cNvSpPr/>
          <p:nvPr/>
        </p:nvSpPr>
        <p:spPr>
          <a:xfrm>
            <a:off x="118440" y="146520"/>
            <a:ext cx="8907120" cy="119160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9" name="PlaceHolder 1"/>
          <p:cNvSpPr>
            <a:spLocks noGrp="1"/>
          </p:cNvSpPr>
          <p:nvPr>
            <p:ph type="title"/>
          </p:nvPr>
        </p:nvSpPr>
        <p:spPr>
          <a:xfrm>
            <a:off x="720000" y="458640"/>
            <a:ext cx="7703640" cy="572400"/>
          </a:xfrm>
          <a:prstGeom prst="rect">
            <a:avLst/>
          </a:prstGeom>
          <a:noFill/>
          <a:ln w="0">
            <a:noFill/>
          </a:ln>
        </p:spPr>
        <p:txBody>
          <a:bodyPr lIns="91440" tIns="91440" rIns="91440" bIns="91440" anchor="t">
            <a:noAutofit/>
          </a:bodyPr>
          <a:lstStyle/>
          <a:p>
            <a:pPr indent="0">
              <a:buNone/>
            </a:pPr>
            <a:r>
              <a:rPr lang="fr-FR" sz="27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1133280" y="1896480"/>
            <a:ext cx="6876720" cy="120492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228600" y="601920"/>
            <a:ext cx="4728240" cy="1402920"/>
          </a:xfrm>
          <a:prstGeom prst="rect">
            <a:avLst/>
          </a:prstGeom>
          <a:noFill/>
          <a:ln w="0">
            <a:noFill/>
          </a:ln>
        </p:spPr>
        <p:txBody>
          <a:bodyPr lIns="91440" tIns="91440" rIns="91440" bIns="91440" anchor="b">
            <a:noAutofit/>
          </a:bodyPr>
          <a:lstStyle/>
          <a:p>
            <a:pPr indent="0">
              <a:buNone/>
            </a:pPr>
            <a:r>
              <a:rPr lang="fr-FR" sz="2700" b="0" u="none" strike="noStrike">
                <a:solidFill>
                  <a:schemeClr val="dk1"/>
                </a:solidFill>
                <a:effectLst/>
                <a:uFillTx/>
                <a:latin typeface="Arial"/>
              </a:rPr>
              <a:t>Click to edit the title text format</a:t>
            </a:r>
          </a:p>
        </p:txBody>
      </p:sp>
      <p:sp>
        <p:nvSpPr>
          <p:cNvPr id="42" name="PlaceHolder 2"/>
          <p:cNvSpPr>
            <a:spLocks noGrp="1"/>
          </p:cNvSpPr>
          <p:nvPr>
            <p:ph type="body"/>
          </p:nvPr>
        </p:nvSpPr>
        <p:spPr>
          <a:xfrm>
            <a:off x="5659200" y="0"/>
            <a:ext cx="34844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43"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4" name="PlaceHolder 2"/>
          <p:cNvSpPr>
            <a:spLocks noGrp="1"/>
          </p:cNvSpPr>
          <p:nvPr>
            <p:ph type="title"/>
          </p:nvPr>
        </p:nvSpPr>
        <p:spPr>
          <a:xfrm>
            <a:off x="1390320" y="3955680"/>
            <a:ext cx="6363360" cy="572400"/>
          </a:xfrm>
          <a:prstGeom prst="rect">
            <a:avLst/>
          </a:prstGeom>
          <a:solidFill>
            <a:schemeClr val="lt1"/>
          </a:solid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Google Shape;128;p24"/>
          <p:cNvPicPr/>
          <p:nvPr/>
        </p:nvPicPr>
        <p:blipFill>
          <a:blip r:embed="rId3"/>
          <a:srcRect t="13906" r="6550" b="7347"/>
          <a:stretch/>
        </p:blipFill>
        <p:spPr>
          <a:xfrm>
            <a:off x="0" y="-7434"/>
            <a:ext cx="9143640" cy="5143320"/>
          </a:xfrm>
          <a:prstGeom prst="rect">
            <a:avLst/>
          </a:prstGeom>
          <a:noFill/>
          <a:ln w="0">
            <a:noFill/>
          </a:ln>
        </p:spPr>
      </p:pic>
      <p:sp>
        <p:nvSpPr>
          <p:cNvPr id="57" name="PlaceHolder 1"/>
          <p:cNvSpPr>
            <a:spLocks noGrp="1"/>
          </p:cNvSpPr>
          <p:nvPr>
            <p:ph type="title"/>
          </p:nvPr>
        </p:nvSpPr>
        <p:spPr>
          <a:xfrm>
            <a:off x="3082698" y="73977"/>
            <a:ext cx="4495320" cy="1495080"/>
          </a:xfrm>
          <a:prstGeom prst="rect">
            <a:avLst/>
          </a:prstGeom>
          <a:noFill/>
          <a:ln w="0">
            <a:noFill/>
          </a:ln>
          <a:effectLst>
            <a:outerShdw blurRad="57240" dist="19080" dir="5400000" rotWithShape="0">
              <a:srgbClr val="000000">
                <a:alpha val="50000"/>
              </a:srgbClr>
            </a:outerShdw>
          </a:effectLst>
        </p:spPr>
        <p:txBody>
          <a:bodyPr lIns="91440" tIns="91440" rIns="91440" bIns="91440" anchor="b">
            <a:normAutofit/>
          </a:bodyPr>
          <a:lstStyle/>
          <a:p>
            <a:pPr indent="0">
              <a:lnSpc>
                <a:spcPct val="100000"/>
              </a:lnSpc>
              <a:buNone/>
              <a:tabLst>
                <a:tab pos="0" algn="l"/>
              </a:tabLst>
            </a:pPr>
            <a:r>
              <a:rPr lang="en-US" sz="4200" b="1" u="none" strike="noStrike" dirty="0">
                <a:solidFill>
                  <a:schemeClr val="dk1"/>
                </a:solidFill>
                <a:effectLst/>
                <a:uFillTx/>
                <a:latin typeface="Manrope"/>
                <a:ea typeface="Manrope"/>
              </a:rPr>
              <a:t>VAPT </a:t>
            </a:r>
            <a:endParaRPr lang="fr-FR" sz="4200" b="0" u="none" strike="noStrike" dirty="0">
              <a:solidFill>
                <a:schemeClr val="dk1"/>
              </a:solidFill>
              <a:effectLst/>
              <a:uFillTx/>
              <a:latin typeface="Arial"/>
            </a:endParaRPr>
          </a:p>
        </p:txBody>
      </p:sp>
      <p:sp>
        <p:nvSpPr>
          <p:cNvPr id="58" name="PlaceHolder 2"/>
          <p:cNvSpPr>
            <a:spLocks noGrp="1"/>
          </p:cNvSpPr>
          <p:nvPr>
            <p:ph type="body"/>
          </p:nvPr>
        </p:nvSpPr>
        <p:spPr>
          <a:xfrm>
            <a:off x="3216516" y="1529096"/>
            <a:ext cx="5800320" cy="47592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fontScale="92500"/>
          </a:bodyPr>
          <a:lstStyle/>
          <a:p>
            <a:pPr indent="0">
              <a:lnSpc>
                <a:spcPct val="115000"/>
              </a:lnSpc>
              <a:buNone/>
              <a:tabLst>
                <a:tab pos="0" algn="l"/>
              </a:tabLst>
            </a:pPr>
            <a:r>
              <a:rPr lang="en-US" sz="1600" b="0" u="none" strike="noStrike" dirty="0">
                <a:solidFill>
                  <a:schemeClr val="dk1"/>
                </a:solidFill>
                <a:effectLst/>
                <a:uFillTx/>
                <a:latin typeface="Funnel Sans Light"/>
                <a:ea typeface="Funnel Sans Light"/>
              </a:rPr>
              <a:t>Vulnerability Assessment and Penetration Testing for Web Applications</a:t>
            </a:r>
            <a:endParaRPr lang="en-US" sz="1600" b="0" u="none" strike="noStrike" dirty="0">
              <a:solidFill>
                <a:srgbClr val="FFFFFF"/>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Google Shape;280;p31"/>
          <p:cNvPicPr/>
          <p:nvPr/>
        </p:nvPicPr>
        <p:blipFill>
          <a:blip r:embed="rId2"/>
          <a:srcRect l="13798" r="1556"/>
          <a:stretch/>
        </p:blipFill>
        <p:spPr>
          <a:xfrm>
            <a:off x="5659200" y="0"/>
            <a:ext cx="3484440" cy="5143320"/>
          </a:xfrm>
          <a:prstGeom prst="rect">
            <a:avLst/>
          </a:prstGeom>
          <a:noFill/>
          <a:ln w="0">
            <a:noFill/>
          </a:ln>
        </p:spPr>
      </p:pic>
      <p:sp>
        <p:nvSpPr>
          <p:cNvPr id="61" name="Google Shape;282;p31"/>
          <p:cNvSpPr/>
          <p:nvPr/>
        </p:nvSpPr>
        <p:spPr>
          <a:xfrm>
            <a:off x="118440" y="585360"/>
            <a:ext cx="5191920" cy="1491120"/>
          </a:xfrm>
          <a:prstGeom prst="roundRect">
            <a:avLst>
              <a:gd name="adj" fmla="val 1666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PlaceHolder 1"/>
          <p:cNvSpPr>
            <a:spLocks noGrp="1"/>
          </p:cNvSpPr>
          <p:nvPr>
            <p:ph type="title"/>
          </p:nvPr>
        </p:nvSpPr>
        <p:spPr>
          <a:xfrm>
            <a:off x="228600" y="600120"/>
            <a:ext cx="4723920" cy="13996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700" b="1" u="none" strike="noStrike">
                <a:solidFill>
                  <a:schemeClr val="dk1"/>
                </a:solidFill>
                <a:effectLst/>
                <a:uFillTx/>
                <a:latin typeface="Manrope"/>
                <a:ea typeface="Manrope"/>
              </a:rPr>
              <a:t>Introduction</a:t>
            </a:r>
            <a:endParaRPr lang="fr-FR" sz="2700" b="0" u="none" strike="noStrike">
              <a:solidFill>
                <a:schemeClr val="dk1"/>
              </a:solidFill>
              <a:effectLst/>
              <a:uFillTx/>
              <a:latin typeface="Arial"/>
            </a:endParaRPr>
          </a:p>
        </p:txBody>
      </p:sp>
      <p:sp>
        <p:nvSpPr>
          <p:cNvPr id="64" name="PlaceHolder 2"/>
          <p:cNvSpPr>
            <a:spLocks noGrp="1"/>
          </p:cNvSpPr>
          <p:nvPr>
            <p:ph type="subTitle"/>
          </p:nvPr>
        </p:nvSpPr>
        <p:spPr>
          <a:xfrm>
            <a:off x="228600" y="2314440"/>
            <a:ext cx="4028760" cy="2095200"/>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a:solidFill>
                  <a:schemeClr val="dk1"/>
                </a:solidFill>
                <a:effectLst/>
                <a:uFillTx/>
                <a:latin typeface="Funnel Sans"/>
                <a:ea typeface="Funnel Sans"/>
              </a:rPr>
              <a:t>Vulnerability Assessment and Penetration Testing (VAPT) is a critical process to identify and exploit security weaknesses in web applications. It helps organizations understand their risk exposure and strengthen defenses. This presentation focuses on using tools with practical examples, specifically leveraging Dam Vulnerable Web Application (DVWA) as a testing environment.</a:t>
            </a:r>
            <a:endParaRPr lang="en-US" sz="1200" b="0" u="none" strike="noStrike">
              <a:solidFill>
                <a:srgbClr val="FFFFFF"/>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p:cNvSpPr/>
          <p:nvPr/>
        </p:nvSpPr>
        <p:spPr>
          <a:xfrm>
            <a:off x="5033412" y="1338642"/>
            <a:ext cx="1293047" cy="861774"/>
          </a:xfrm>
          <a:prstGeom prst="rect">
            <a:avLst/>
          </a:prstGeom>
          <a:noFill/>
          <a:ln w="0">
            <a:noFill/>
          </a:ln>
        </p:spPr>
        <p:style>
          <a:lnRef idx="0">
            <a:scrgbClr r="0" g="0" b="0"/>
          </a:lnRef>
          <a:fillRef idx="0">
            <a:scrgbClr r="0" g="0" b="0"/>
          </a:fillRef>
          <a:effectRef idx="0">
            <a:scrgbClr r="0" g="0" b="0"/>
          </a:effectRef>
          <a:fontRef idx="minor"/>
        </p:style>
        <p:txBody>
          <a:bodyPr wrap="square" anchor="t">
            <a:spAutoFit/>
          </a:bodyPr>
          <a:lstStyle/>
          <a:p>
            <a:pPr defTabSz="914400">
              <a:lnSpc>
                <a:spcPct val="100000"/>
              </a:lnSpc>
              <a:tabLst>
                <a:tab pos="0" algn="l"/>
              </a:tabLst>
            </a:pPr>
            <a:r>
              <a:rPr lang="en-US" sz="5000" b="1" u="none" strike="noStrike" dirty="0">
                <a:solidFill>
                  <a:schemeClr val="dk1"/>
                </a:solidFill>
                <a:effectLst/>
                <a:uFillTx/>
                <a:latin typeface="Calibri"/>
              </a:rPr>
              <a:t>01</a:t>
            </a:r>
            <a:endParaRPr lang="en-US" sz="5000" b="0" u="none" strike="noStrike" dirty="0">
              <a:solidFill>
                <a:srgbClr val="FFFFFF"/>
              </a:solidFill>
              <a:effectLst/>
              <a:uFillTx/>
              <a:latin typeface="OpenSymbol"/>
            </a:endParaRPr>
          </a:p>
        </p:txBody>
      </p:sp>
      <p:sp>
        <p:nvSpPr>
          <p:cNvPr id="66" name="Rectangle 65"/>
          <p:cNvSpPr/>
          <p:nvPr/>
        </p:nvSpPr>
        <p:spPr>
          <a:xfrm>
            <a:off x="5055714" y="2306067"/>
            <a:ext cx="3619080" cy="645286"/>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00000"/>
              </a:lnSpc>
              <a:tabLst>
                <a:tab pos="0" algn="l"/>
              </a:tabLst>
            </a:pPr>
            <a:r>
              <a:rPr lang="en-US" sz="4000" b="1" u="none" strike="noStrike" dirty="0">
                <a:solidFill>
                  <a:schemeClr val="dk1"/>
                </a:solidFill>
                <a:effectLst/>
                <a:uFillTx/>
                <a:latin typeface="Manrope"/>
              </a:rPr>
              <a:t>VAPT Overview</a:t>
            </a:r>
          </a:p>
        </p:txBody>
      </p:sp>
      <p:pic>
        <p:nvPicPr>
          <p:cNvPr id="67" name="image69a991ca3c854" descr="image69a991ca3c85a"/>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Rectangle 67"/>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700" b="1" u="none" strike="noStrike">
                <a:solidFill>
                  <a:schemeClr val="dk1"/>
                </a:solidFill>
                <a:effectLst/>
                <a:uFillTx/>
                <a:latin typeface="Manrope"/>
              </a:rPr>
              <a:t>Definition and Importance</a:t>
            </a:r>
            <a:endParaRPr lang="en-US" sz="2700" b="0" u="none" strike="noStrike">
              <a:solidFill>
                <a:srgbClr val="FFFFFF"/>
              </a:solidFill>
              <a:effectLst/>
              <a:uFillTx/>
              <a:latin typeface="OpenSymbol"/>
            </a:endParaRPr>
          </a:p>
        </p:txBody>
      </p:sp>
      <p:sp>
        <p:nvSpPr>
          <p:cNvPr id="69" name="Rectangle 68"/>
          <p:cNvSpPr/>
          <p:nvPr/>
        </p:nvSpPr>
        <p:spPr>
          <a:xfrm>
            <a:off x="5048280" y="1897686"/>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i="1" u="none" strike="noStrike" dirty="0">
                <a:solidFill>
                  <a:schemeClr val="dk1"/>
                </a:solidFill>
                <a:effectLst/>
                <a:uFillTx/>
                <a:latin typeface="Funnel Sans"/>
              </a:rPr>
              <a:t>Vulnerability Assessment</a:t>
            </a:r>
            <a:r>
              <a:rPr lang="en-US" sz="1200" b="0" u="none" strike="noStrike" dirty="0">
                <a:solidFill>
                  <a:schemeClr val="dk1"/>
                </a:solidFill>
                <a:effectLst/>
                <a:uFillTx/>
                <a:latin typeface="Funnel Sans"/>
              </a:rPr>
              <a:t> identifies security flaws, while </a:t>
            </a:r>
            <a:r>
              <a:rPr lang="en-US" sz="1200" b="0" i="1" u="none" strike="noStrike" dirty="0">
                <a:solidFill>
                  <a:schemeClr val="dk1"/>
                </a:solidFill>
                <a:effectLst/>
                <a:uFillTx/>
                <a:latin typeface="Funnel Sans"/>
              </a:rPr>
              <a:t>Penetration Testing</a:t>
            </a:r>
            <a:r>
              <a:rPr lang="en-US" sz="1200" b="0" u="none" strike="noStrike" dirty="0">
                <a:solidFill>
                  <a:schemeClr val="dk1"/>
                </a:solidFill>
                <a:effectLst/>
                <a:uFillTx/>
                <a:latin typeface="Funnel Sans"/>
              </a:rPr>
              <a:t> exploits those vulnerabilities to evaluate risk. Together, they provide a comprehensive security evaluation. VAPT supports proactive risk management, regulatory compliance, and protects sensitive data by mitigating potential attacks.</a:t>
            </a:r>
            <a:endParaRPr lang="en-US" sz="1200" b="0" u="none" strike="noStrike" dirty="0">
              <a:solidFill>
                <a:srgbClr val="FFFFFF"/>
              </a:solidFill>
              <a:effectLst/>
              <a:uFillTx/>
              <a:latin typeface="OpenSymbol"/>
            </a:endParaRPr>
          </a:p>
        </p:txBody>
      </p:sp>
      <p:pic>
        <p:nvPicPr>
          <p:cNvPr id="70" name="image69a991ca4c0cf" descr="image69a991ca4c0d2"/>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700" b="1" u="none" strike="noStrike">
                <a:solidFill>
                  <a:schemeClr val="dk1"/>
                </a:solidFill>
                <a:effectLst/>
                <a:uFillTx/>
                <a:latin typeface="Manrope"/>
              </a:rPr>
              <a:t>Types of Vulnerabilities</a:t>
            </a:r>
            <a:endParaRPr lang="en-US" sz="2700" b="0" u="none" strike="noStrike">
              <a:solidFill>
                <a:srgbClr val="FFFFFF"/>
              </a:solidFill>
              <a:effectLst/>
              <a:uFillTx/>
              <a:latin typeface="OpenSymbol"/>
            </a:endParaRPr>
          </a:p>
        </p:txBody>
      </p:sp>
      <p:sp>
        <p:nvSpPr>
          <p:cNvPr id="72" name="Rectangle 71"/>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Funnel Sans"/>
              </a:rPr>
              <a:t>Common vulnerabilities include </a:t>
            </a:r>
            <a:r>
              <a:rPr lang="en-US" sz="1200" b="0" i="1" u="none" strike="noStrike">
                <a:solidFill>
                  <a:schemeClr val="dk1"/>
                </a:solidFill>
                <a:effectLst/>
                <a:uFillTx/>
                <a:latin typeface="Funnel Sans"/>
              </a:rPr>
              <a:t>SQL Injection</a:t>
            </a:r>
            <a:r>
              <a:rPr lang="en-US" sz="1200" b="0" u="none" strike="noStrike">
                <a:solidFill>
                  <a:schemeClr val="dk1"/>
                </a:solidFill>
                <a:effectLst/>
                <a:uFillTx/>
                <a:latin typeface="Funnel Sans"/>
              </a:rPr>
              <a:t>, </a:t>
            </a:r>
            <a:r>
              <a:rPr lang="en-US" sz="1200" b="0" i="1" u="none" strike="noStrike">
                <a:solidFill>
                  <a:schemeClr val="dk1"/>
                </a:solidFill>
                <a:effectLst/>
                <a:uFillTx/>
                <a:latin typeface="Funnel Sans"/>
              </a:rPr>
              <a:t>Cross-Site Scripting (XSS)</a:t>
            </a:r>
            <a:r>
              <a:rPr lang="en-US" sz="1200" b="0" u="none" strike="noStrike">
                <a:solidFill>
                  <a:schemeClr val="dk1"/>
                </a:solidFill>
                <a:effectLst/>
                <a:uFillTx/>
                <a:latin typeface="Funnel Sans"/>
              </a:rPr>
              <a:t>, and </a:t>
            </a:r>
            <a:r>
              <a:rPr lang="en-US" sz="1200" b="0" i="1" u="none" strike="noStrike">
                <a:solidFill>
                  <a:schemeClr val="dk1"/>
                </a:solidFill>
                <a:effectLst/>
                <a:uFillTx/>
                <a:latin typeface="Funnel Sans"/>
              </a:rPr>
              <a:t>Command Injection</a:t>
            </a:r>
            <a:r>
              <a:rPr lang="en-US" sz="1200" b="0" u="none" strike="noStrike">
                <a:solidFill>
                  <a:schemeClr val="dk1"/>
                </a:solidFill>
                <a:effectLst/>
                <a:uFillTx/>
                <a:latin typeface="Funnel Sans"/>
              </a:rPr>
              <a:t>. Each type exposes different attack vectors that can compromise data integrity, confidentiality, and availability. Understanding these is essential for effective testing and remediation strategies.</a:t>
            </a:r>
            <a:endParaRPr lang="en-US" sz="1200" b="0" u="none" strike="noStrike">
              <a:solidFill>
                <a:srgbClr val="FFFFFF"/>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6" name="PlaceHolder 1"/>
          <p:cNvSpPr>
            <a:spLocks noGrp="1"/>
          </p:cNvSpPr>
          <p:nvPr>
            <p:ph type="title"/>
          </p:nvPr>
        </p:nvSpPr>
        <p:spPr>
          <a:xfrm>
            <a:off x="723960" y="457200"/>
            <a:ext cx="77054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700" b="1" u="none" strike="noStrike">
                <a:solidFill>
                  <a:schemeClr val="dk1"/>
                </a:solidFill>
                <a:effectLst/>
                <a:uFillTx/>
                <a:latin typeface="Manrope"/>
                <a:ea typeface="Manrope"/>
              </a:rPr>
              <a:t>VAPT Methodology</a:t>
            </a:r>
            <a:endParaRPr lang="fr-FR" sz="2700" b="0" u="none" strike="noStrike">
              <a:solidFill>
                <a:schemeClr val="dk1"/>
              </a:solidFill>
              <a:effectLst/>
              <a:uFillTx/>
              <a:latin typeface="Arial"/>
            </a:endParaRPr>
          </a:p>
        </p:txBody>
      </p:sp>
      <p:sp>
        <p:nvSpPr>
          <p:cNvPr id="77" name="PlaceHolder 2"/>
          <p:cNvSpPr>
            <a:spLocks noGrp="1"/>
          </p:cNvSpPr>
          <p:nvPr>
            <p:ph type="subTitle"/>
          </p:nvPr>
        </p:nvSpPr>
        <p:spPr>
          <a:xfrm>
            <a:off x="695160" y="1809720"/>
            <a:ext cx="7762680" cy="26190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Funnel Sans"/>
                <a:ea typeface="Funnel Sans"/>
              </a:rPr>
              <a:t>The VAPT process begins with </a:t>
            </a:r>
            <a:r>
              <a:rPr lang="en-US" sz="1200" b="0" i="1" u="none" strike="noStrike">
                <a:solidFill>
                  <a:schemeClr val="dk1"/>
                </a:solidFill>
                <a:effectLst/>
                <a:uFillTx/>
                <a:latin typeface="Funnel Sans"/>
                <a:ea typeface="Funnel Sans"/>
              </a:rPr>
              <a:t>information gathering</a:t>
            </a:r>
            <a:r>
              <a:rPr lang="en-US" sz="1200" b="0" u="none" strike="noStrike">
                <a:solidFill>
                  <a:schemeClr val="dk1"/>
                </a:solidFill>
                <a:effectLst/>
                <a:uFillTx/>
                <a:latin typeface="Funnel Sans"/>
                <a:ea typeface="Funnel Sans"/>
              </a:rPr>
              <a:t> to understand the target application and its components. This is followed by </a:t>
            </a:r>
            <a:r>
              <a:rPr lang="en-US" sz="1200" b="0" i="1" u="none" strike="noStrike">
                <a:solidFill>
                  <a:schemeClr val="dk1"/>
                </a:solidFill>
                <a:effectLst/>
                <a:uFillTx/>
                <a:latin typeface="Funnel Sans"/>
                <a:ea typeface="Funnel Sans"/>
              </a:rPr>
              <a:t>vulnerability identification</a:t>
            </a:r>
            <a:r>
              <a:rPr lang="en-US" sz="1200" b="0" u="none" strike="noStrike">
                <a:solidFill>
                  <a:schemeClr val="dk1"/>
                </a:solidFill>
                <a:effectLst/>
                <a:uFillTx/>
                <a:latin typeface="Funnel Sans"/>
                <a:ea typeface="Funnel Sans"/>
              </a:rPr>
              <a:t> using automated tools and manual techniques. The next step, </a:t>
            </a:r>
            <a:r>
              <a:rPr lang="en-US" sz="1200" b="0" i="1" u="none" strike="noStrike">
                <a:solidFill>
                  <a:schemeClr val="dk1"/>
                </a:solidFill>
                <a:effectLst/>
                <a:uFillTx/>
                <a:latin typeface="Funnel Sans"/>
                <a:ea typeface="Funnel Sans"/>
              </a:rPr>
              <a:t>exploitation</a:t>
            </a:r>
            <a:r>
              <a:rPr lang="en-US" sz="1200" b="0" u="none" strike="noStrike">
                <a:solidFill>
                  <a:schemeClr val="dk1"/>
                </a:solidFill>
                <a:effectLst/>
                <a:uFillTx/>
                <a:latin typeface="Funnel Sans"/>
                <a:ea typeface="Funnel Sans"/>
              </a:rPr>
              <a:t>, tests vulnerabilities to assess their risk. Finally, detailed </a:t>
            </a:r>
            <a:r>
              <a:rPr lang="en-US" sz="1200" b="0" i="1" u="none" strike="noStrike">
                <a:solidFill>
                  <a:schemeClr val="dk1"/>
                </a:solidFill>
                <a:effectLst/>
                <a:uFillTx/>
                <a:latin typeface="Funnel Sans"/>
                <a:ea typeface="Funnel Sans"/>
              </a:rPr>
              <a:t>reporting</a:t>
            </a:r>
            <a:r>
              <a:rPr lang="en-US" sz="1200" b="0" u="none" strike="noStrike">
                <a:solidFill>
                  <a:schemeClr val="dk1"/>
                </a:solidFill>
                <a:effectLst/>
                <a:uFillTx/>
                <a:latin typeface="Funnel Sans"/>
                <a:ea typeface="Funnel Sans"/>
              </a:rPr>
              <a:t> provides actionable recommendations to mitigate discovered risks and improve security posture.</a:t>
            </a:r>
            <a:endParaRPr lang="en-US" sz="1200" b="0" u="none" strike="noStrike">
              <a:solidFill>
                <a:srgbClr val="FFFFFF"/>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p:cNvSpPr/>
          <p:nvPr/>
        </p:nvSpPr>
        <p:spPr>
          <a:xfrm>
            <a:off x="476280" y="476280"/>
            <a:ext cx="2285640" cy="861774"/>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dirty="0">
                <a:solidFill>
                  <a:schemeClr val="dk1"/>
                </a:solidFill>
                <a:effectLst/>
                <a:uFillTx/>
                <a:latin typeface="Calibri"/>
              </a:rPr>
              <a:t>02</a:t>
            </a:r>
            <a:endParaRPr lang="en-US" sz="5000" b="0" u="none" strike="noStrike" dirty="0">
              <a:solidFill>
                <a:srgbClr val="FFFFFF"/>
              </a:solidFill>
              <a:effectLst/>
              <a:uFillTx/>
              <a:latin typeface="OpenSymbol"/>
            </a:endParaRPr>
          </a:p>
        </p:txBody>
      </p:sp>
      <p:sp>
        <p:nvSpPr>
          <p:cNvPr id="79" name="Rectangle 78"/>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defTabSz="914400">
              <a:lnSpc>
                <a:spcPct val="100000"/>
              </a:lnSpc>
              <a:tabLst>
                <a:tab pos="0" algn="l"/>
              </a:tabLst>
            </a:pPr>
            <a:r>
              <a:rPr lang="en-US" sz="4000" b="1" u="none" strike="noStrike">
                <a:solidFill>
                  <a:schemeClr val="dk1"/>
                </a:solidFill>
                <a:effectLst/>
                <a:uFillTx/>
                <a:latin typeface="Manrope"/>
              </a:rPr>
              <a:t>VAPT Execution on Web Applications</a:t>
            </a:r>
            <a:endParaRPr lang="en-US" sz="4000" b="0" u="none" strike="noStrike">
              <a:solidFill>
                <a:srgbClr val="FFFFFF"/>
              </a:solidFill>
              <a:effectLst/>
              <a:uFillTx/>
              <a:latin typeface="OpenSymbol"/>
            </a:endParaRPr>
          </a:p>
        </p:txBody>
      </p:sp>
      <p:pic>
        <p:nvPicPr>
          <p:cNvPr id="80" name="image69a991ca5b9b2" descr="image69a991ca5b9b7"/>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700" b="1" u="none" strike="noStrike">
                <a:solidFill>
                  <a:schemeClr val="dk1"/>
                </a:solidFill>
                <a:effectLst/>
                <a:uFillTx/>
                <a:latin typeface="Manrope"/>
              </a:rPr>
              <a:t>Using DVWA for Testing</a:t>
            </a:r>
            <a:endParaRPr lang="en-US" sz="2700" b="0" u="none" strike="noStrike">
              <a:solidFill>
                <a:srgbClr val="FFFFFF"/>
              </a:solidFill>
              <a:effectLst/>
              <a:uFillTx/>
              <a:latin typeface="OpenSymbol"/>
            </a:endParaRPr>
          </a:p>
        </p:txBody>
      </p:sp>
      <p:sp>
        <p:nvSpPr>
          <p:cNvPr id="82" name="Rectangle 81"/>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Funnel Sans"/>
              </a:rPr>
              <a:t>DVWA (Damn Vulnerable Web Application) is a popular tool designed for practicing web security testing. It offers multiple vulnerability levels and various security flaws to exploit. DVWA provides a safe, controlled environment to test scanning and penetration techniques, making it ideal for learning and demonstrating real-world web application attacks.</a:t>
            </a:r>
            <a:endParaRPr lang="en-US" sz="1200" b="0" u="none" strike="noStrike">
              <a:solidFill>
                <a:srgbClr val="FFFFFF"/>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86" name="PlaceHolder 1"/>
          <p:cNvSpPr>
            <a:spLocks noGrp="1"/>
          </p:cNvSpPr>
          <p:nvPr>
            <p:ph type="title"/>
          </p:nvPr>
        </p:nvSpPr>
        <p:spPr>
          <a:xfrm>
            <a:off x="723960" y="457200"/>
            <a:ext cx="77054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700" b="1" u="none" strike="noStrike">
                <a:solidFill>
                  <a:schemeClr val="dk1"/>
                </a:solidFill>
                <a:effectLst/>
                <a:uFillTx/>
                <a:latin typeface="Manrope"/>
                <a:ea typeface="Manrope"/>
              </a:rPr>
              <a:t>Tools for Vulnerability Scanning</a:t>
            </a:r>
            <a:endParaRPr lang="fr-FR" sz="2700" b="0" u="none" strike="noStrike">
              <a:solidFill>
                <a:schemeClr val="dk1"/>
              </a:solidFill>
              <a:effectLst/>
              <a:uFillTx/>
              <a:latin typeface="Arial"/>
            </a:endParaRPr>
          </a:p>
        </p:txBody>
      </p:sp>
      <p:sp>
        <p:nvSpPr>
          <p:cNvPr id="87" name="PlaceHolder 2"/>
          <p:cNvSpPr>
            <a:spLocks noGrp="1"/>
          </p:cNvSpPr>
          <p:nvPr>
            <p:ph type="subTitle"/>
          </p:nvPr>
        </p:nvSpPr>
        <p:spPr>
          <a:xfrm>
            <a:off x="695160" y="1809720"/>
            <a:ext cx="7762680" cy="26190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Funnel Sans"/>
                <a:ea typeface="Funnel Sans"/>
              </a:rPr>
              <a:t>Common tools include </a:t>
            </a:r>
            <a:r>
              <a:rPr lang="en-US" sz="1200" b="0" i="1" u="none" strike="noStrike">
                <a:solidFill>
                  <a:schemeClr val="dk1"/>
                </a:solidFill>
                <a:effectLst/>
                <a:uFillTx/>
                <a:latin typeface="Funnel Sans"/>
                <a:ea typeface="Funnel Sans"/>
              </a:rPr>
              <a:t>OWASP ZAP</a:t>
            </a:r>
            <a:r>
              <a:rPr lang="en-US" sz="1200" b="0" u="none" strike="noStrike">
                <a:solidFill>
                  <a:schemeClr val="dk1"/>
                </a:solidFill>
                <a:effectLst/>
                <a:uFillTx/>
                <a:latin typeface="Funnel Sans"/>
                <a:ea typeface="Funnel Sans"/>
              </a:rPr>
              <a:t>, </a:t>
            </a:r>
            <a:r>
              <a:rPr lang="en-US" sz="1200" b="0" i="1" u="none" strike="noStrike">
                <a:solidFill>
                  <a:schemeClr val="dk1"/>
                </a:solidFill>
                <a:effectLst/>
                <a:uFillTx/>
                <a:latin typeface="Funnel Sans"/>
                <a:ea typeface="Funnel Sans"/>
              </a:rPr>
              <a:t>Nessus</a:t>
            </a:r>
            <a:r>
              <a:rPr lang="en-US" sz="1200" b="0" u="none" strike="noStrike">
                <a:solidFill>
                  <a:schemeClr val="dk1"/>
                </a:solidFill>
                <a:effectLst/>
                <a:uFillTx/>
                <a:latin typeface="Funnel Sans"/>
                <a:ea typeface="Funnel Sans"/>
              </a:rPr>
              <a:t>, and </a:t>
            </a:r>
            <a:r>
              <a:rPr lang="en-US" sz="1200" b="0" i="1" u="none" strike="noStrike">
                <a:solidFill>
                  <a:schemeClr val="dk1"/>
                </a:solidFill>
                <a:effectLst/>
                <a:uFillTx/>
                <a:latin typeface="Funnel Sans"/>
                <a:ea typeface="Funnel Sans"/>
              </a:rPr>
              <a:t>Burp Suite</a:t>
            </a:r>
            <a:r>
              <a:rPr lang="en-US" sz="1200" b="0" u="none" strike="noStrike">
                <a:solidFill>
                  <a:schemeClr val="dk1"/>
                </a:solidFill>
                <a:effectLst/>
                <a:uFillTx/>
                <a:latin typeface="Funnel Sans"/>
                <a:ea typeface="Funnel Sans"/>
              </a:rPr>
              <a:t>. These tools automate scanning for vulnerabilities like SQL injection and cross-site scripting. They help identify weaknesses quickly and accurately, providing detailed analysis to guide penetration testing efforts and patch prioritization, enhancing overall application security.</a:t>
            </a:r>
            <a:endParaRPr lang="en-US" sz="1200" b="0" u="none" strike="noStrike">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a:bodyPr>
          <a:lstStyle/>
          <a:p>
            <a:pPr defTabSz="914400">
              <a:lnSpc>
                <a:spcPct val="100000"/>
              </a:lnSpc>
              <a:tabLst>
                <a:tab pos="0" algn="l"/>
              </a:tabLst>
            </a:pPr>
            <a:r>
              <a:rPr lang="en-US" sz="2700" b="1" u="none" strike="noStrike">
                <a:solidFill>
                  <a:schemeClr val="dk1"/>
                </a:solidFill>
                <a:effectLst/>
                <a:uFillTx/>
                <a:latin typeface="Manrope"/>
              </a:rPr>
              <a:t>Penetration Testing Techniques and Examples</a:t>
            </a:r>
            <a:endParaRPr lang="en-US" sz="2700" b="0" u="none" strike="noStrike">
              <a:solidFill>
                <a:srgbClr val="FFFFFF"/>
              </a:solidFill>
              <a:effectLst/>
              <a:uFillTx/>
              <a:latin typeface="OpenSymbol"/>
            </a:endParaRPr>
          </a:p>
        </p:txBody>
      </p:sp>
      <p:sp>
        <p:nvSpPr>
          <p:cNvPr id="89" name="Rectangle 88"/>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Funnel Sans"/>
              </a:rPr>
              <a:t>Penetration testers use techniques such as </a:t>
            </a:r>
            <a:r>
              <a:rPr lang="en-US" sz="1200" b="0" i="1" u="none" strike="noStrike">
                <a:solidFill>
                  <a:schemeClr val="dk1"/>
                </a:solidFill>
                <a:effectLst/>
                <a:uFillTx/>
                <a:latin typeface="Funnel Sans"/>
              </a:rPr>
              <a:t>manual code review</a:t>
            </a:r>
            <a:r>
              <a:rPr lang="en-US" sz="1200" b="0" u="none" strike="noStrike">
                <a:solidFill>
                  <a:schemeClr val="dk1"/>
                </a:solidFill>
                <a:effectLst/>
                <a:uFillTx/>
                <a:latin typeface="Funnel Sans"/>
              </a:rPr>
              <a:t>, </a:t>
            </a:r>
            <a:r>
              <a:rPr lang="en-US" sz="1200" b="0" i="1" u="none" strike="noStrike">
                <a:solidFill>
                  <a:schemeClr val="dk1"/>
                </a:solidFill>
                <a:effectLst/>
                <a:uFillTx/>
                <a:latin typeface="Funnel Sans"/>
              </a:rPr>
              <a:t>SQL injection attacks</a:t>
            </a:r>
            <a:r>
              <a:rPr lang="en-US" sz="1200" b="0" u="none" strike="noStrike">
                <a:solidFill>
                  <a:schemeClr val="dk1"/>
                </a:solidFill>
                <a:effectLst/>
                <a:uFillTx/>
                <a:latin typeface="Funnel Sans"/>
              </a:rPr>
              <a:t>, </a:t>
            </a:r>
            <a:r>
              <a:rPr lang="en-US" sz="1200" b="0" i="1" u="none" strike="noStrike">
                <a:solidFill>
                  <a:schemeClr val="dk1"/>
                </a:solidFill>
                <a:effectLst/>
                <a:uFillTx/>
                <a:latin typeface="Funnel Sans"/>
              </a:rPr>
              <a:t>XSS payloads</a:t>
            </a:r>
            <a:r>
              <a:rPr lang="en-US" sz="1200" b="0" u="none" strike="noStrike">
                <a:solidFill>
                  <a:schemeClr val="dk1"/>
                </a:solidFill>
                <a:effectLst/>
                <a:uFillTx/>
                <a:latin typeface="Funnel Sans"/>
              </a:rPr>
              <a:t>, and </a:t>
            </a:r>
            <a:r>
              <a:rPr lang="en-US" sz="1200" b="0" i="1" u="none" strike="noStrike">
                <a:solidFill>
                  <a:schemeClr val="dk1"/>
                </a:solidFill>
                <a:effectLst/>
                <a:uFillTx/>
                <a:latin typeface="Funnel Sans"/>
              </a:rPr>
              <a:t>authentication bypass tests</a:t>
            </a:r>
            <a:r>
              <a:rPr lang="en-US" sz="1200" b="0" u="none" strike="noStrike">
                <a:solidFill>
                  <a:schemeClr val="dk1"/>
                </a:solidFill>
                <a:effectLst/>
                <a:uFillTx/>
                <a:latin typeface="Funnel Sans"/>
              </a:rPr>
              <a:t>. Using DVWA as a target, testers exploit vulnerabilities like weak input validation and improper session handling to demonstrate potential impact. This hands-on approach verifies vulnerability presence and supports mitigation planning.</a:t>
            </a:r>
            <a:endParaRPr lang="en-US" sz="1200" b="0" u="none" strike="noStrike">
              <a:solidFill>
                <a:srgbClr val="FFFFFF"/>
              </a:solidFill>
              <a:effectLst/>
              <a:uFillTx/>
              <a:latin typeface="OpenSymbol"/>
            </a:endParaRPr>
          </a:p>
        </p:txBody>
      </p:sp>
      <p:pic>
        <p:nvPicPr>
          <p:cNvPr id="90" name="image69a991ca6ab0b" descr="image69a991ca6ab0f"/>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Google Shape;225;p28"/>
          <p:cNvSpPr/>
          <p:nvPr/>
        </p:nvSpPr>
        <p:spPr>
          <a:xfrm>
            <a:off x="118440" y="1505520"/>
            <a:ext cx="8906760" cy="3157920"/>
          </a:xfrm>
          <a:prstGeom prst="roundRect">
            <a:avLst>
              <a:gd name="adj" fmla="val 5521"/>
            </a:avLst>
          </a:prstGeom>
          <a:noFill/>
          <a:ln w="9525">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4" name="PlaceHolder 1"/>
          <p:cNvSpPr>
            <a:spLocks noGrp="1"/>
          </p:cNvSpPr>
          <p:nvPr>
            <p:ph type="title"/>
          </p:nvPr>
        </p:nvSpPr>
        <p:spPr>
          <a:xfrm>
            <a:off x="723960" y="457200"/>
            <a:ext cx="770544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2700" b="1" u="none" strike="noStrike">
                <a:solidFill>
                  <a:schemeClr val="dk1"/>
                </a:solidFill>
                <a:effectLst/>
                <a:uFillTx/>
                <a:latin typeface="Manrope"/>
                <a:ea typeface="Manrope"/>
              </a:rPr>
              <a:t>Conclusions</a:t>
            </a:r>
            <a:endParaRPr lang="fr-FR" sz="2700" b="0" u="none" strike="noStrike">
              <a:solidFill>
                <a:schemeClr val="dk1"/>
              </a:solidFill>
              <a:effectLst/>
              <a:uFillTx/>
              <a:latin typeface="Arial"/>
            </a:endParaRPr>
          </a:p>
        </p:txBody>
      </p:sp>
      <p:sp>
        <p:nvSpPr>
          <p:cNvPr id="95" name="PlaceHolder 2"/>
          <p:cNvSpPr>
            <a:spLocks noGrp="1"/>
          </p:cNvSpPr>
          <p:nvPr>
            <p:ph type="subTitle"/>
          </p:nvPr>
        </p:nvSpPr>
        <p:spPr>
          <a:xfrm>
            <a:off x="695160" y="1809720"/>
            <a:ext cx="7762680" cy="26190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Funnel Sans"/>
                <a:ea typeface="Funnel Sans"/>
              </a:rPr>
              <a:t>VAPT is essential for uncovering hidden security flaws in web applications, reducing organizational risk. Using tools like DVWA combined with automated scanners and manual testing delivers comprehensive coverage. Implementing regular VAPT cycles strengthens defenses, ensures compliance, and protects critical assets from evolving cyber threats.</a:t>
            </a:r>
            <a:endParaRPr lang="en-US" sz="1200" b="0" u="none" strike="noStrike">
              <a:solidFill>
                <a:srgbClr val="FFFFFF"/>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prstGeom prst="rect">
            <a:avLst/>
          </a:prstGeom>
          <a:noFill/>
          <a:ln w="0">
            <a:noFill/>
          </a:ln>
        </p:spPr>
        <p:txBody>
          <a:bodyPr lIns="91440" tIns="91440" rIns="91440" bIns="91440" anchor="b">
            <a:spAutoFit/>
          </a:bodyPr>
          <a:lstStyle/>
          <a:p>
            <a:pPr indent="0" algn="ctr">
              <a:lnSpc>
                <a:spcPct val="100000"/>
              </a:lnSpc>
              <a:buNone/>
              <a:tabLst>
                <a:tab pos="0" algn="l"/>
              </a:tabLst>
            </a:pPr>
            <a:r>
              <a:rPr lang="en" sz="4500" b="1" u="none" strike="noStrike">
                <a:solidFill>
                  <a:schemeClr val="dk1"/>
                </a:solidFill>
                <a:effectLst/>
                <a:uFillTx/>
                <a:latin typeface="Manrope"/>
                <a:ea typeface="Manrope"/>
              </a:rPr>
              <a:t>THANKS!</a:t>
            </a:r>
            <a:endParaRPr lang="fr-FR" sz="4500" b="0" u="none" strike="noStrike">
              <a:solidFill>
                <a:schemeClr val="dk1"/>
              </a:solidFill>
              <a:effectLst/>
              <a:uFillTx/>
              <a:latin typeface="Arial"/>
            </a:endParaRPr>
          </a:p>
        </p:txBody>
      </p:sp>
      <p:sp>
        <p:nvSpPr>
          <p:cNvPr id="97" name="PlaceHolder 2"/>
          <p:cNvSpPr>
            <a:spLocks noGrp="1"/>
          </p:cNvSpPr>
          <p:nvPr>
            <p:ph type="body"/>
          </p:nvPr>
        </p:nvSpPr>
        <p:spPr>
          <a:xfrm>
            <a:off x="457200" y="1203480"/>
            <a:ext cx="8229240" cy="1087477"/>
          </a:xfrm>
          <a:prstGeom prst="rect">
            <a:avLst/>
          </a:prstGeom>
          <a:noFill/>
          <a:ln w="0">
            <a:noFill/>
          </a:ln>
        </p:spPr>
        <p:txBody>
          <a:bodyPr lIns="91440" tIns="91440" rIns="91440" bIns="91440" anchor="t">
            <a:spAutoFit/>
          </a:bodyPr>
          <a:lstStyle/>
          <a:p>
            <a:pPr indent="0" algn="ctr">
              <a:lnSpc>
                <a:spcPct val="100000"/>
              </a:lnSpc>
              <a:buNone/>
              <a:tabLst>
                <a:tab pos="0" algn="l"/>
              </a:tabLst>
            </a:pPr>
            <a:r>
              <a:rPr lang="en" sz="1400" b="1" u="none" strike="noStrike" dirty="0">
                <a:solidFill>
                  <a:schemeClr val="dk1"/>
                </a:solidFill>
                <a:effectLst/>
                <a:uFillTx/>
                <a:latin typeface="Funnel Sans"/>
                <a:ea typeface="Funnel Sans"/>
              </a:rPr>
              <a:t>Do you have any questions?</a:t>
            </a:r>
            <a:endParaRPr lang="en-US" sz="1400" dirty="0">
              <a:solidFill>
                <a:srgbClr val="FFFFFF"/>
              </a:solidFill>
              <a:latin typeface="OpenSymbol"/>
            </a:endParaRPr>
          </a:p>
          <a:p>
            <a:pPr indent="0" algn="ctr">
              <a:lnSpc>
                <a:spcPct val="100000"/>
              </a:lnSpc>
              <a:buNone/>
              <a:tabLst>
                <a:tab pos="0" algn="l"/>
              </a:tabLst>
            </a:pPr>
            <a:r>
              <a:rPr lang="en-US" sz="1400" b="0" u="none" strike="noStrike" dirty="0">
                <a:solidFill>
                  <a:schemeClr val="dk1"/>
                </a:solidFill>
                <a:effectLst/>
                <a:uFillTx/>
                <a:latin typeface="Funnel Sans"/>
                <a:ea typeface="Funnel Sans"/>
              </a:rPr>
              <a:t>Reach out :-</a:t>
            </a:r>
          </a:p>
          <a:p>
            <a:pPr indent="0" algn="ctr">
              <a:lnSpc>
                <a:spcPct val="100000"/>
              </a:lnSpc>
              <a:buNone/>
              <a:tabLst>
                <a:tab pos="0" algn="l"/>
              </a:tabLst>
            </a:pPr>
            <a:r>
              <a:rPr lang="en-US" sz="1400" b="0" u="none" strike="noStrike" dirty="0">
                <a:solidFill>
                  <a:schemeClr val="dk1"/>
                </a:solidFill>
                <a:effectLst/>
                <a:uFillTx/>
                <a:latin typeface="Funnel Sans"/>
                <a:ea typeface="Funnel Sans"/>
              </a:rPr>
              <a:t>sahuabhijeet902@gmail.com</a:t>
            </a:r>
            <a:endParaRPr lang="en-US" sz="1400" b="0" u="none" strike="noStrike" dirty="0">
              <a:solidFill>
                <a:srgbClr val="FFFFFF"/>
              </a:solidFill>
              <a:effectLst/>
              <a:uFillTx/>
              <a:latin typeface="OpenSymbol"/>
            </a:endParaRPr>
          </a:p>
        </p:txBody>
      </p:sp>
      <p:sp>
        <p:nvSpPr>
          <p:cNvPr id="98" name="Google Shape;373;p37"/>
          <p:cNvSpPr/>
          <p:nvPr/>
        </p:nvSpPr>
        <p:spPr>
          <a:xfrm>
            <a:off x="2352600" y="4334040"/>
            <a:ext cx="4447800" cy="55399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tabLst>
                <a:tab pos="0" algn="l"/>
              </a:tabLst>
            </a:pPr>
            <a:r>
              <a:rPr lang="en" sz="1200" b="0" u="none" strike="noStrike" dirty="0">
                <a:solidFill>
                  <a:schemeClr val="dk1"/>
                </a:solidFill>
                <a:effectLst/>
                <a:uFillTx/>
                <a:latin typeface="Arial"/>
              </a:rPr>
              <a:t>MADE BY :- Abhijeet Sahu</a:t>
            </a:r>
          </a:p>
          <a:p>
            <a:pPr algn="ctr">
              <a:tabLst>
                <a:tab pos="0" algn="l"/>
              </a:tabLst>
            </a:pPr>
            <a:r>
              <a:rPr lang="en-US" sz="1200" dirty="0"/>
              <a:t>Course </a:t>
            </a:r>
            <a:r>
              <a:rPr lang="en" sz="1200" b="0" u="none" strike="noStrike" dirty="0">
                <a:solidFill>
                  <a:schemeClr val="dk1"/>
                </a:solidFill>
                <a:effectLst/>
                <a:uFillTx/>
                <a:latin typeface="Arial"/>
              </a:rPr>
              <a:t>:- BCA </a:t>
            </a:r>
          </a:p>
          <a:p>
            <a:pPr algn="ctr">
              <a:tabLst>
                <a:tab pos="0" algn="l"/>
              </a:tabLst>
            </a:pPr>
            <a:r>
              <a:rPr lang="en" sz="1200" dirty="0">
                <a:solidFill>
                  <a:schemeClr val="dk1"/>
                </a:solidFill>
                <a:latin typeface="Arial"/>
              </a:rPr>
              <a:t>University :- BBD </a:t>
            </a:r>
            <a:r>
              <a:rPr lang="en" sz="1200" dirty="0">
                <a:solidFill>
                  <a:schemeClr val="dk1"/>
                </a:solidFill>
              </a:rPr>
              <a:t>University</a:t>
            </a:r>
            <a:endParaRPr lang="en-US" sz="1200" b="0" u="none" strike="noStrike" dirty="0">
              <a:solidFill>
                <a:srgbClr val="FFFFFF"/>
              </a:solidFill>
              <a:effectLst/>
              <a:uFillTx/>
              <a:latin typeface="OpenSymbol"/>
            </a:endParaRPr>
          </a:p>
        </p:txBody>
      </p:sp>
    </p:spTree>
  </p:cSld>
  <p:clrMapOvr>
    <a:masterClrMapping/>
  </p:clrMapOvr>
</p:sld>
</file>

<file path=ppt/theme/theme1.xml><?xml version="1.0" encoding="utf-8"?>
<a:theme xmlns:a="http://schemas.openxmlformats.org/drawingml/2006/main" name="Computer Architecture by Slidesgo">
  <a:themeElements>
    <a:clrScheme name="Simple Light">
      <a:dk1>
        <a:srgbClr val="FFFFFF"/>
      </a:dk1>
      <a:lt1>
        <a:srgbClr val="0E0E0E"/>
      </a:lt1>
      <a:dk2>
        <a:srgbClr val="FFFFFF"/>
      </a:dk2>
      <a:lt2>
        <a:srgbClr val="222222"/>
      </a:lt2>
      <a:accent1>
        <a:srgbClr val="D9D9D9"/>
      </a:accent1>
      <a:accent2>
        <a:srgbClr val="00FFA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TotalTime>
  <Words>483</Words>
  <Application>Microsoft Office PowerPoint</Application>
  <PresentationFormat>On-screen Show (16:9)</PresentationFormat>
  <Paragraphs>31</Paragraphs>
  <Slides>12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Funnel Sans</vt:lpstr>
      <vt:lpstr>Funnel Sans Light</vt:lpstr>
      <vt:lpstr>Manrope</vt:lpstr>
      <vt:lpstr>OpenSymbol</vt:lpstr>
      <vt:lpstr>Symbol</vt:lpstr>
      <vt:lpstr>Wingdings</vt:lpstr>
      <vt:lpstr>Computer Architecture by Slidesgo</vt:lpstr>
      <vt:lpstr>VAPT </vt:lpstr>
      <vt:lpstr>Introduction</vt:lpstr>
      <vt:lpstr>PowerPoint Presentation</vt:lpstr>
      <vt:lpstr>PowerPoint Presentation</vt:lpstr>
      <vt:lpstr>PowerPoint Presentation</vt:lpstr>
      <vt:lpstr>VAPT Methodology</vt:lpstr>
      <vt:lpstr>PowerPoint Presentation</vt:lpstr>
      <vt:lpstr>PowerPoint Presentation</vt:lpstr>
      <vt:lpstr>Tools for Vulnerability Scanning</vt:lpstr>
      <vt:lpstr>PowerPoint Presentation</vt:lpstr>
      <vt:lpstr>Conclusions</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Abhijeet Sahu</dc:creator>
  <cp:lastModifiedBy>Abhijeet Sahu</cp:lastModifiedBy>
  <cp:revision>1</cp:revision>
  <dcterms:modified xsi:type="dcterms:W3CDTF">2026-03-05T15:10:23Z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2026-03-05T14:22:59Z</dcterms:created>
  <dc:creator>Unknown Creator</dc:creator>
  <dc:description/>
  <dc:language>en-US</dc:language>
  <cp:lastModifiedBy>Unknown Creator</cp:lastModifiedBy>
  <dcterms:modified xsi:type="dcterms:W3CDTF">2026-03-05T14:22:59Z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